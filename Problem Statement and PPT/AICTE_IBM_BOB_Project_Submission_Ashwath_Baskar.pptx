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90" r:id="rId2"/>
    <p:sldId id="291" r:id="rId3"/>
    <p:sldId id="292" r:id="rId4"/>
    <p:sldId id="293" r:id="rId5"/>
    <p:sldId id="294" r:id="rId6"/>
    <p:sldId id="295" r:id="rId7"/>
    <p:sldId id="296" r:id="rId8"/>
    <p:sldId id="297" r:id="rId9"/>
    <p:sldId id="312" r:id="rId10"/>
    <p:sldId id="299" r:id="rId11"/>
    <p:sldId id="300" r:id="rId12"/>
    <p:sldId id="301" r:id="rId13"/>
    <p:sldId id="302" r:id="rId14"/>
    <p:sldId id="303" r:id="rId15"/>
    <p:sldId id="310" r:id="rId16"/>
    <p:sldId id="311" r:id="rId17"/>
    <p:sldId id="304" r:id="rId18"/>
    <p:sldId id="305" r:id="rId19"/>
    <p:sldId id="306" r:id="rId20"/>
    <p:sldId id="307" r:id="rId21"/>
    <p:sldId id="308" r:id="rId22"/>
    <p:sldId id="309"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9" d="100"/>
          <a:sy n="79" d="100"/>
        </p:scale>
        <p:origin x="84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E6558F57-E6AE-6A5C-2A4F-790D09BEF217}"/>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4A035D74-8314-965E-0AED-92A084596B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23EAFEE-32AA-AE0F-72F7-F26941EB08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7415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D132BB2-F7A7-C1A4-7B04-DA0B4AA48B4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7FADD1DE-21A0-9030-ECC4-821FFB6C11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25529AB-70EE-D058-C74B-14F711220C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30265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311FC96-0E26-54CA-6F10-B5C9BF153731}"/>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5CC2EDF-ED99-9ED9-B9B5-E2E731CE1B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47EFBDC-4015-BB8B-0AAA-E69EA72E73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7597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Ashwath.basofficial@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shwath0102/Interview-Trainer-An-AI-Powered-Interview-Coaching-Platform"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19135745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Ashwath Baskar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ashwath.basofficial@gmail.com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9551708053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b="1" dirty="0"/>
              <a:t>EdTech</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Interview Trainer Agent</a:t>
            </a:r>
            <a:endParaRPr lang="en-IN" sz="2400" b="1" dirty="0">
              <a:highlight>
                <a:srgbClr val="FFFF00"/>
              </a:highlight>
            </a:endParaRPr>
          </a:p>
        </p:txBody>
      </p:sp>
      <p:pic>
        <p:nvPicPr>
          <p:cNvPr id="5" name="Picture 4">
            <a:extLst>
              <a:ext uri="{FF2B5EF4-FFF2-40B4-BE49-F238E27FC236}">
                <a16:creationId xmlns:a16="http://schemas.microsoft.com/office/drawing/2014/main" id="{70FEC617-7550-72A8-D194-AB81861DF951}"/>
              </a:ext>
            </a:extLst>
          </p:cNvPr>
          <p:cNvPicPr>
            <a:picLocks noChangeAspect="1"/>
          </p:cNvPicPr>
          <p:nvPr/>
        </p:nvPicPr>
        <p:blipFill>
          <a:blip r:embed="rId4"/>
          <a:stretch>
            <a:fillRect/>
          </a:stretch>
        </p:blipFill>
        <p:spPr>
          <a:xfrm>
            <a:off x="4090238" y="3661965"/>
            <a:ext cx="861141" cy="110547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16758"/>
          </a:xfrm>
          <a:prstGeom prst="rect">
            <a:avLst/>
          </a:prstGeom>
          <a:noFill/>
        </p:spPr>
        <p:txBody>
          <a:bodyPr wrap="square" rtlCol="0">
            <a:spAutoFit/>
          </a:bodyPr>
          <a:lstStyle/>
          <a:p>
            <a:pPr algn="just" fontAlgn="base"/>
            <a:r>
              <a:rPr lang="en-US" sz="1600" b="1" dirty="0"/>
              <a:t>Interview Trainer Agent</a:t>
            </a:r>
            <a:r>
              <a:rPr lang="en-US" sz="1600" dirty="0"/>
              <a:t> </a:t>
            </a:r>
          </a:p>
          <a:p>
            <a:pPr algn="just" fontAlgn="base"/>
            <a:endParaRPr lang="en-US" sz="1600" b="1" dirty="0"/>
          </a:p>
          <a:p>
            <a:pPr algn="just" fontAlgn="base"/>
            <a:r>
              <a:rPr lang="en-US" sz="1600" b="1" dirty="0"/>
              <a:t>The Challenge</a:t>
            </a:r>
            <a:r>
              <a:rPr lang="en-US" sz="1600" dirty="0"/>
              <a:t> </a:t>
            </a:r>
          </a:p>
          <a:p>
            <a:pPr algn="just" fontAlgn="base"/>
            <a:r>
              <a:rPr lang="en-US" sz="1600" dirty="0"/>
              <a:t>An Interview Trainer Agent, powered by </a:t>
            </a:r>
            <a:r>
              <a:rPr lang="en-US" sz="1600" b="1" dirty="0"/>
              <a:t>RAG</a:t>
            </a:r>
            <a:r>
              <a:rPr lang="en-US" sz="1600" dirty="0"/>
              <a:t> (Retrieval-Augmented Generation), prepares users for job interviews by generating tailored question sets and preparation strategies based on their profile name, experience level, and job role. </a:t>
            </a:r>
          </a:p>
          <a:p>
            <a:pPr algn="just" fontAlgn="base"/>
            <a:endParaRPr lang="en-US" sz="1600" dirty="0"/>
          </a:p>
          <a:p>
            <a:pPr algn="just" fontAlgn="base"/>
            <a:r>
              <a:rPr lang="en-US" sz="1600" b="1" dirty="0"/>
              <a:t>The Objective</a:t>
            </a:r>
            <a:r>
              <a:rPr lang="en-US" sz="1600" dirty="0"/>
              <a:t> </a:t>
            </a:r>
          </a:p>
          <a:p>
            <a:pPr algn="just" fontAlgn="base"/>
            <a:r>
              <a:rPr lang="en-US" sz="1600" dirty="0"/>
              <a:t>Build an </a:t>
            </a:r>
            <a:r>
              <a:rPr lang="en-US" sz="1600" b="1" dirty="0"/>
              <a:t>AI-powered Interview Trainer Agent</a:t>
            </a:r>
            <a:r>
              <a:rPr lang="en-US" sz="1600" dirty="0"/>
              <a:t> that delivers </a:t>
            </a:r>
            <a:r>
              <a:rPr lang="en-US" sz="1600" b="1" dirty="0"/>
              <a:t>personalized dietary insights and guidance</a:t>
            </a:r>
            <a:r>
              <a:rPr lang="en-US" sz="1600" dirty="0"/>
              <a:t> for individuals, families, and health professionals. The solution should: </a:t>
            </a:r>
          </a:p>
          <a:p>
            <a:pPr marL="285750" indent="-285750" algn="just" fontAlgn="base">
              <a:buFont typeface="Arial" panose="020B0604020202020204" pitchFamily="34" charset="0"/>
              <a:buChar char="•"/>
            </a:pPr>
            <a:r>
              <a:rPr lang="en-US" sz="1600" dirty="0"/>
              <a:t>It</a:t>
            </a:r>
            <a:r>
              <a:rPr lang="en-US" sz="1600" b="1" dirty="0"/>
              <a:t> retrieves role-specific interview questions, industry expectations, behavioral scenarios, </a:t>
            </a:r>
            <a:r>
              <a:rPr lang="en-US" sz="1600" dirty="0"/>
              <a:t>and</a:t>
            </a:r>
            <a:r>
              <a:rPr lang="en-US" sz="1600" b="1" dirty="0"/>
              <a:t> HR guidelines </a:t>
            </a:r>
            <a:r>
              <a:rPr lang="en-US" sz="1600" dirty="0"/>
              <a:t>from</a:t>
            </a:r>
            <a:r>
              <a:rPr lang="en-US" sz="1600" b="1" dirty="0"/>
              <a:t> recruitment portals, professional networks, </a:t>
            </a:r>
            <a:r>
              <a:rPr lang="en-US" sz="1600" dirty="0"/>
              <a:t>and</a:t>
            </a:r>
            <a:r>
              <a:rPr lang="en-US" sz="1600" b="1" dirty="0"/>
              <a:t> company interview databases.</a:t>
            </a:r>
          </a:p>
          <a:p>
            <a:pPr marL="285750" indent="-285750" algn="just" fontAlgn="base">
              <a:buFont typeface="Arial" panose="020B0604020202020204" pitchFamily="34" charset="0"/>
              <a:buChar char="•"/>
            </a:pPr>
            <a:r>
              <a:rPr lang="en-US" sz="1600" dirty="0"/>
              <a:t>Users can input their </a:t>
            </a:r>
            <a:r>
              <a:rPr lang="en-US" sz="1600" b="1" dirty="0"/>
              <a:t>resume or job title, </a:t>
            </a:r>
            <a:r>
              <a:rPr lang="en-US" sz="1600" dirty="0"/>
              <a:t>and </a:t>
            </a:r>
            <a:r>
              <a:rPr lang="en-US" sz="1600" b="1" dirty="0"/>
              <a:t>the agent provides targeted questions, model answers, </a:t>
            </a:r>
            <a:r>
              <a:rPr lang="en-US" sz="1600" dirty="0"/>
              <a:t>and </a:t>
            </a:r>
            <a:r>
              <a:rPr lang="en-US" sz="1600" b="1" dirty="0"/>
              <a:t>improvement tips.</a:t>
            </a:r>
          </a:p>
          <a:p>
            <a:pPr marL="285750" indent="-285750" algn="just" fontAlgn="base">
              <a:buFont typeface="Arial" panose="020B0604020202020204" pitchFamily="34" charset="0"/>
              <a:buChar char="•"/>
            </a:pPr>
            <a:r>
              <a:rPr lang="en-US" sz="1600" dirty="0"/>
              <a:t>It supports both</a:t>
            </a:r>
            <a:r>
              <a:rPr lang="en-US" sz="1600" b="1" dirty="0"/>
              <a:t> technical and soft skill assessment, </a:t>
            </a:r>
            <a:r>
              <a:rPr lang="en-US" sz="1600" dirty="0"/>
              <a:t>ensuring a </a:t>
            </a:r>
            <a:r>
              <a:rPr lang="en-US" sz="1600" b="1" dirty="0"/>
              <a:t>comprehensive interview prep</a:t>
            </a:r>
          </a:p>
          <a:p>
            <a:pPr marL="285750" indent="-285750" algn="just" fontAlgn="base">
              <a:buFont typeface="Arial" panose="020B0604020202020204" pitchFamily="34" charset="0"/>
              <a:buChar char="•"/>
            </a:pPr>
            <a:r>
              <a:rPr lang="en-US" sz="1600" b="1" dirty="0"/>
              <a:t>experience.</a:t>
            </a:r>
          </a:p>
          <a:p>
            <a:pPr marL="285750" indent="-285750" algn="just" fontAlgn="base">
              <a:buFont typeface="Arial" panose="020B0604020202020204" pitchFamily="34" charset="0"/>
              <a:buChar char="•"/>
            </a:pPr>
            <a:r>
              <a:rPr lang="en-US" sz="1600" dirty="0"/>
              <a:t>This</a:t>
            </a:r>
            <a:r>
              <a:rPr lang="en-US" sz="1600" b="1" dirty="0"/>
              <a:t> AI-driven assistant </a:t>
            </a:r>
            <a:r>
              <a:rPr lang="en-US" sz="1600" dirty="0"/>
              <a:t>builds</a:t>
            </a:r>
            <a:r>
              <a:rPr lang="en-US" sz="1600" b="1" dirty="0"/>
              <a:t> user confidence, sharpens responses, </a:t>
            </a:r>
            <a:r>
              <a:rPr lang="en-US" sz="1600" dirty="0"/>
              <a:t>and</a:t>
            </a:r>
            <a:r>
              <a:rPr lang="en-US" sz="1600" b="1" dirty="0"/>
              <a:t> increases success rates </a:t>
            </a:r>
            <a:r>
              <a:rPr lang="en-US" sz="1600" dirty="0"/>
              <a:t>in</a:t>
            </a:r>
            <a:r>
              <a:rPr lang="en-US" sz="1600" b="1" dirty="0"/>
              <a:t> competitive hiring environments.</a:t>
            </a:r>
            <a:endParaRPr lang="en-US" sz="1600" dirty="0"/>
          </a:p>
          <a:p>
            <a:pPr algn="just" fontAlgn="base"/>
            <a:endParaRPr lang="en-US" sz="1600" dirty="0"/>
          </a:p>
          <a:p>
            <a:pPr algn="just"/>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
        <p:nvSpPr>
          <p:cNvPr id="6" name="TextBox 5">
            <a:extLst>
              <a:ext uri="{FF2B5EF4-FFF2-40B4-BE49-F238E27FC236}">
                <a16:creationId xmlns:a16="http://schemas.microsoft.com/office/drawing/2014/main" id="{09CA84B7-2229-695D-286F-747E368AD2E6}"/>
              </a:ext>
            </a:extLst>
          </p:cNvPr>
          <p:cNvSpPr txBox="1"/>
          <p:nvPr/>
        </p:nvSpPr>
        <p:spPr>
          <a:xfrm>
            <a:off x="603113" y="1488332"/>
            <a:ext cx="10515601" cy="5262979"/>
          </a:xfrm>
          <a:prstGeom prst="rect">
            <a:avLst/>
          </a:prstGeom>
          <a:noFill/>
        </p:spPr>
        <p:txBody>
          <a:bodyPr wrap="square" rtlCol="0">
            <a:spAutoFit/>
          </a:bodyPr>
          <a:lstStyle/>
          <a:p>
            <a:pPr algn="just"/>
            <a:r>
              <a:rPr lang="en-IN" b="1" dirty="0"/>
              <a:t>Interview Trainer: An AI-Powered Interview Coaching Platform </a:t>
            </a:r>
            <a:endParaRPr lang="en-IN" dirty="0"/>
          </a:p>
          <a:p>
            <a:pPr algn="just"/>
            <a:endParaRPr lang="en-IN" b="1" dirty="0"/>
          </a:p>
          <a:p>
            <a:pPr algn="just"/>
            <a:r>
              <a:rPr lang="en-IN" dirty="0"/>
              <a:t>Candidates enter their target role, experience level, company, and question type: the system generates a fully personalised interview preparation pack.</a:t>
            </a:r>
          </a:p>
          <a:p>
            <a:pPr algn="just"/>
            <a:endParaRPr lang="en-IN" dirty="0"/>
          </a:p>
          <a:p>
            <a:pPr algn="just"/>
            <a:r>
              <a:rPr lang="en-IN" b="1" dirty="0"/>
              <a:t>Four modes of preparation in one platform:</a:t>
            </a:r>
            <a:endParaRPr lang="en-IN" dirty="0"/>
          </a:p>
          <a:p>
            <a:pPr lvl="0" algn="just"/>
            <a:r>
              <a:rPr lang="en-IN" b="1" dirty="0"/>
              <a:t>Generate Questions:</a:t>
            </a:r>
            <a:r>
              <a:rPr lang="en-IN" dirty="0"/>
              <a:t> 5 focused questions (Technical, </a:t>
            </a:r>
            <a:r>
              <a:rPr lang="en-IN" dirty="0" err="1"/>
              <a:t>Behavioral</a:t>
            </a:r>
            <a:r>
              <a:rPr lang="en-IN" dirty="0"/>
              <a:t>, HR, Evaluation) with model answers and difficulty ratings. Repeated requests are served instantly from an in-memory response cache, avoiding redundant LLM calls.</a:t>
            </a:r>
          </a:p>
          <a:p>
            <a:pPr lvl="0" algn="just"/>
            <a:r>
              <a:rPr lang="en-IN" b="1" dirty="0"/>
              <a:t>Resume Analyzer:</a:t>
            </a:r>
            <a:r>
              <a:rPr lang="en-IN" dirty="0"/>
              <a:t> Role fit score, resume-specific questions, vulnerability areas, and a 30-day study plan. Identical resume submissions are cache-served within the session.</a:t>
            </a:r>
          </a:p>
          <a:p>
            <a:pPr lvl="0" algn="just"/>
            <a:r>
              <a:rPr lang="en-IN" b="1" dirty="0"/>
              <a:t>Answer Evaluator:</a:t>
            </a:r>
            <a:r>
              <a:rPr lang="en-IN" dirty="0"/>
              <a:t> Candidate writes a practice answer and receives a score out of 10, gap analysis, and a polished model answer. Cache key normalization ensures minor punctuation or spacing differences in re-submissions still resolve to a cache hit.</a:t>
            </a:r>
          </a:p>
          <a:p>
            <a:pPr lvl="0" algn="just"/>
            <a:r>
              <a:rPr lang="en-IN" b="1" dirty="0"/>
              <a:t>AI Coach Chat:</a:t>
            </a:r>
            <a:r>
              <a:rPr lang="en-IN" dirty="0"/>
              <a:t> Open-ended multi-turn conversation with a knowledge-grounded interview coach.</a:t>
            </a:r>
          </a:p>
          <a:p>
            <a:pPr algn="just"/>
            <a:r>
              <a:rPr lang="en-IN" dirty="0"/>
              <a:t>All responses grounded in the </a:t>
            </a:r>
            <a:r>
              <a:rPr lang="en-IN" dirty="0" err="1"/>
              <a:t>Interview_Agent</a:t>
            </a:r>
            <a:r>
              <a:rPr lang="en-IN" dirty="0"/>
              <a:t> vector knowledge base via IBM Watson Discovery: the model never answers from memory alone.</a:t>
            </a:r>
          </a:p>
          <a:p>
            <a:pPr algn="just"/>
            <a:endParaRPr lang="en-IN" dirty="0"/>
          </a:p>
          <a:p>
            <a:pPr algn="just"/>
            <a:r>
              <a:rPr lang="en-IN" dirty="0"/>
              <a:t>Built on IBM Granite (</a:t>
            </a:r>
            <a:r>
              <a:rPr lang="en-IN" dirty="0" err="1"/>
              <a:t>ibm</a:t>
            </a:r>
            <a:r>
              <a:rPr lang="en-IN" dirty="0"/>
              <a:t>/granite-4-h-small) via IBM watsonx.ai with real-time inference and IAM token authentication. A lightweight in-memory response cache with zero external dependencies intercepts repeated requests before they reach the RAG pipeline, eliminating redundant token spend across all stateless endpoints.</a:t>
            </a:r>
          </a:p>
          <a:p>
            <a:pPr algn="just"/>
            <a:endParaRPr lang="en-IN" dirty="0"/>
          </a:p>
          <a:p>
            <a:pPr algn="just"/>
            <a:r>
              <a:rPr lang="en-IN" dirty="0"/>
              <a:t>Most interview prep tools give generic questions. This platform reads the candidate role, level, and resume, retrieves relevant knowledge from a vector index, generates content specific to that person, and serves repeat requests instantly from cache. It functions more like a personal coach than a search engine.</a:t>
            </a:r>
          </a:p>
          <a:p>
            <a:pPr algn="just"/>
            <a:endParaRPr lang="en-IN"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t>IBM Bob platform </a:t>
            </a:r>
            <a:r>
              <a:rPr lang="en-US" sz="1800" dirty="0"/>
              <a:t>-For designing and orchestrating agent workflows visually</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IBM Cloud </a:t>
            </a:r>
            <a:r>
              <a:rPr lang="en-US" sz="1800" dirty="0"/>
              <a:t>– It provides the infrastructure to build, deploy, and scale the Interview Trainer Agent efficiently. IBM Cloud enables a </a:t>
            </a:r>
            <a:r>
              <a:rPr lang="en-US" sz="1800" b="1" dirty="0"/>
              <a:t>reliable, secure, and scalable environment</a:t>
            </a:r>
            <a:r>
              <a:rPr lang="en-US" sz="1800" dirty="0"/>
              <a:t> for deploying the Interview Trainer Agent.</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Interview Trainer Agent more trustworthy and effective.</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US" sz="1800" b="1" dirty="0"/>
              <a:t>IBM Watsonx.ai - </a:t>
            </a:r>
            <a:r>
              <a:rPr lang="en-US" sz="1800" dirty="0"/>
              <a:t>For model deployment, embeddings, and AI governance</a:t>
            </a:r>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r>
              <a:rPr lang="en-IN" sz="1800" b="1" dirty="0"/>
              <a:t>Vector Database </a:t>
            </a:r>
            <a:r>
              <a:rPr lang="en-IN" sz="1800" dirty="0"/>
              <a:t>(IBM </a:t>
            </a:r>
            <a:r>
              <a:rPr lang="en-IN" sz="1800" dirty="0" err="1"/>
              <a:t>watsonx</a:t>
            </a:r>
            <a:r>
              <a:rPr lang="en-IN" sz="1800" dirty="0"/>
              <a:t> (In-Memory) vector store) – For RAG-based </a:t>
            </a:r>
            <a:r>
              <a:rPr lang="en-US" sz="1800" dirty="0"/>
              <a:t>Interview </a:t>
            </a:r>
            <a:r>
              <a:rPr lang="en-IN" sz="1800" dirty="0"/>
              <a:t>data retrieval</a:t>
            </a:r>
            <a:endParaRPr lang="en-US" sz="1800" dirty="0"/>
          </a:p>
          <a:p>
            <a:pPr marL="285750" indent="-285750" algn="just">
              <a:buFont typeface="Arial" panose="020B0604020202020204" pitchFamily="34" charset="0"/>
              <a:buChar char="•"/>
            </a:pPr>
            <a:endParaRPr lang="en-US" sz="1800" dirty="0"/>
          </a:p>
          <a:p>
            <a:pPr marL="285750" indent="-285750" algn="just">
              <a:buFont typeface="Arial" panose="020B0604020202020204" pitchFamily="34" charset="0"/>
              <a:buChar char="•"/>
            </a:pPr>
            <a:endParaRPr lang="en-US" sz="1800" dirty="0"/>
          </a:p>
          <a:p>
            <a:pPr algn="just"/>
            <a:endParaRPr lang="en-US" dirty="0"/>
          </a:p>
          <a:p>
            <a:pPr algn="just"/>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1238A9D-DDD5-6B5F-0204-BF09F69DADBD}"/>
              </a:ext>
            </a:extLst>
          </p:cNvPr>
          <p:cNvPicPr>
            <a:picLocks noChangeAspect="1"/>
          </p:cNvPicPr>
          <p:nvPr/>
        </p:nvPicPr>
        <p:blipFill>
          <a:blip r:embed="rId3"/>
          <a:srcRect l="10931" t="3976" r="11032" b="5155"/>
          <a:stretch>
            <a:fillRect/>
          </a:stretch>
        </p:blipFill>
        <p:spPr>
          <a:xfrm>
            <a:off x="2019719" y="952994"/>
            <a:ext cx="8409392" cy="5508098"/>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F86B9740-434D-9FDB-9E4C-08D5B8ACFB6D}"/>
              </a:ext>
            </a:extLst>
          </p:cNvPr>
          <p:cNvPicPr>
            <a:picLocks noChangeAspect="1"/>
          </p:cNvPicPr>
          <p:nvPr/>
        </p:nvPicPr>
        <p:blipFill>
          <a:blip r:embed="rId3"/>
          <a:srcRect l="11070" t="4251" r="10984" b="5109"/>
          <a:stretch>
            <a:fillRect/>
          </a:stretch>
        </p:blipFill>
        <p:spPr>
          <a:xfrm>
            <a:off x="2150347" y="1113392"/>
            <a:ext cx="8067947" cy="527736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76A0466-3871-0DEE-B9CB-944069F6760D}"/>
              </a:ext>
            </a:extLst>
          </p:cNvPr>
          <p:cNvPicPr>
            <a:picLocks noChangeAspect="1"/>
          </p:cNvPicPr>
          <p:nvPr/>
        </p:nvPicPr>
        <p:blipFill>
          <a:blip r:embed="rId2"/>
          <a:srcRect l="10776" t="4276" r="10808" b="6265"/>
          <a:stretch>
            <a:fillRect/>
          </a:stretch>
        </p:blipFill>
        <p:spPr>
          <a:xfrm>
            <a:off x="1477108" y="614358"/>
            <a:ext cx="8772211" cy="5629283"/>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2D5D2E00-6608-7987-A28B-44D08EC05FA5}"/>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A3FE4C1E-0C31-81B1-5F7B-D6C53BF999B6}"/>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sp>
        <p:nvSpPr>
          <p:cNvPr id="4" name="TextBox 3">
            <a:extLst>
              <a:ext uri="{FF2B5EF4-FFF2-40B4-BE49-F238E27FC236}">
                <a16:creationId xmlns:a16="http://schemas.microsoft.com/office/drawing/2014/main" id="{73B42F98-E605-98A9-8657-B1DC2F835296}"/>
              </a:ext>
            </a:extLst>
          </p:cNvPr>
          <p:cNvSpPr txBox="1"/>
          <p:nvPr/>
        </p:nvSpPr>
        <p:spPr>
          <a:xfrm>
            <a:off x="723802" y="1170242"/>
            <a:ext cx="1404552" cy="215444"/>
          </a:xfrm>
          <a:prstGeom prst="rect">
            <a:avLst/>
          </a:prstGeom>
          <a:noFill/>
        </p:spPr>
        <p:txBody>
          <a:bodyPr wrap="none" rtlCol="0">
            <a:spAutoFit/>
          </a:bodyPr>
          <a:lstStyle/>
          <a:p>
            <a:r>
              <a:rPr lang="en-IN" sz="800" dirty="0"/>
              <a:t>BROWSER / FRONT-END</a:t>
            </a:r>
          </a:p>
        </p:txBody>
      </p:sp>
      <p:sp>
        <p:nvSpPr>
          <p:cNvPr id="7" name="TextBox 6">
            <a:extLst>
              <a:ext uri="{FF2B5EF4-FFF2-40B4-BE49-F238E27FC236}">
                <a16:creationId xmlns:a16="http://schemas.microsoft.com/office/drawing/2014/main" id="{0FD00850-B340-27B0-03CA-AE9D6F127B02}"/>
              </a:ext>
            </a:extLst>
          </p:cNvPr>
          <p:cNvSpPr txBox="1"/>
          <p:nvPr/>
        </p:nvSpPr>
        <p:spPr>
          <a:xfrm>
            <a:off x="3297501" y="1170242"/>
            <a:ext cx="1569660" cy="215444"/>
          </a:xfrm>
          <a:prstGeom prst="rect">
            <a:avLst/>
          </a:prstGeom>
          <a:noFill/>
        </p:spPr>
        <p:txBody>
          <a:bodyPr wrap="none" rtlCol="0">
            <a:spAutoFit/>
          </a:bodyPr>
          <a:lstStyle/>
          <a:p>
            <a:r>
              <a:rPr lang="en-IN" sz="800" dirty="0"/>
              <a:t>EXPRESS SERVER (Node.js)</a:t>
            </a:r>
          </a:p>
        </p:txBody>
      </p:sp>
      <p:sp>
        <p:nvSpPr>
          <p:cNvPr id="11" name="TextBox 10">
            <a:extLst>
              <a:ext uri="{FF2B5EF4-FFF2-40B4-BE49-F238E27FC236}">
                <a16:creationId xmlns:a16="http://schemas.microsoft.com/office/drawing/2014/main" id="{F81C7849-4359-A6AF-FDAE-7A75E115E912}"/>
              </a:ext>
            </a:extLst>
          </p:cNvPr>
          <p:cNvSpPr txBox="1"/>
          <p:nvPr/>
        </p:nvSpPr>
        <p:spPr>
          <a:xfrm>
            <a:off x="7827347" y="1164155"/>
            <a:ext cx="1305165" cy="215444"/>
          </a:xfrm>
          <a:prstGeom prst="rect">
            <a:avLst/>
          </a:prstGeom>
          <a:noFill/>
        </p:spPr>
        <p:txBody>
          <a:bodyPr wrap="none" rtlCol="0">
            <a:spAutoFit/>
          </a:bodyPr>
          <a:lstStyle/>
          <a:p>
            <a:r>
              <a:rPr lang="en-IN" sz="800" dirty="0"/>
              <a:t>IBM CLOUD SERVICES</a:t>
            </a:r>
          </a:p>
        </p:txBody>
      </p:sp>
      <p:pic>
        <p:nvPicPr>
          <p:cNvPr id="6" name="Picture 5">
            <a:extLst>
              <a:ext uri="{FF2B5EF4-FFF2-40B4-BE49-F238E27FC236}">
                <a16:creationId xmlns:a16="http://schemas.microsoft.com/office/drawing/2014/main" id="{2C82F51A-2B3F-7846-3DCA-3696E22119D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66988" y="771747"/>
            <a:ext cx="10987421" cy="6086253"/>
          </a:xfrm>
          <a:prstGeom prst="rect">
            <a:avLst/>
          </a:prstGeom>
        </p:spPr>
      </p:pic>
    </p:spTree>
    <p:extLst>
      <p:ext uri="{BB962C8B-B14F-4D97-AF65-F5344CB8AC3E}">
        <p14:creationId xmlns:p14="http://schemas.microsoft.com/office/powerpoint/2010/main" val="4118984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12065" y="1138484"/>
            <a:ext cx="7759920" cy="5478423"/>
          </a:xfrm>
          <a:prstGeom prst="rect">
            <a:avLst/>
          </a:prstGeom>
          <a:noFill/>
        </p:spPr>
        <p:txBody>
          <a:bodyPr wrap="square" rtlCol="0">
            <a:spAutoFit/>
          </a:bodyPr>
          <a:lstStyle/>
          <a:p>
            <a:pPr algn="just"/>
            <a:r>
              <a:rPr lang="en-IN" sz="1300" b="1" dirty="0"/>
              <a:t>How Agentic AI Drives Interview Trainer</a:t>
            </a:r>
          </a:p>
          <a:p>
            <a:pPr lvl="0" algn="just"/>
            <a:endParaRPr lang="en-IN" sz="1300" b="1" dirty="0"/>
          </a:p>
          <a:p>
            <a:pPr algn="just"/>
            <a:r>
              <a:rPr lang="en-IN" sz="1200" b="1" dirty="0"/>
              <a:t>RAG: Retrieval-Augmented Generation</a:t>
            </a:r>
            <a:r>
              <a:rPr lang="en-IN" sz="1200" dirty="0"/>
              <a:t> Before every LLM call, the system queries the </a:t>
            </a:r>
            <a:r>
              <a:rPr lang="en-IN" sz="1200" dirty="0" err="1"/>
              <a:t>Interview_Agent</a:t>
            </a:r>
            <a:r>
              <a:rPr lang="en-IN" sz="1200" dirty="0"/>
              <a:t> Watson Discovery vector index. Retrieved passages are injected into the system prompt, ensuring the model is grounded in domain knowledge rather than free to hallucinate.</a:t>
            </a:r>
          </a:p>
          <a:p>
            <a:pPr algn="just"/>
            <a:endParaRPr lang="en-IN" sz="1200" dirty="0"/>
          </a:p>
          <a:p>
            <a:pPr algn="just"/>
            <a:r>
              <a:rPr lang="en-IN" sz="1200" b="1" dirty="0"/>
              <a:t>Cache-Gated Pipeline</a:t>
            </a:r>
            <a:r>
              <a:rPr lang="en-IN" sz="1200" dirty="0"/>
              <a:t> Before RAG retrieval even begins, the agent checks an in-memory response cache. On a hit, the full result is returned immediately, skipping the Discovery query, system prompt construction, and all Granite calls. The agent observes the incoming request and decides whether the pipeline needs to run at all.</a:t>
            </a:r>
          </a:p>
          <a:p>
            <a:pPr algn="just"/>
            <a:endParaRPr lang="en-IN" sz="1200" dirty="0"/>
          </a:p>
          <a:p>
            <a:pPr algn="just"/>
            <a:r>
              <a:rPr lang="en-IN" sz="1200" b="1" dirty="0"/>
              <a:t>Multi-Step Sequential Reasoning Chain</a:t>
            </a:r>
            <a:r>
              <a:rPr lang="en-IN" sz="1200" dirty="0"/>
              <a:t> Call 1 generates Questions 1 through 3, and the output is fed back as assistant context. Call 2 continues with Questions 4 through 5 and tips. The server observes the intermediate output and decides the next prompt, establishing the agentic loop.</a:t>
            </a:r>
          </a:p>
          <a:p>
            <a:pPr algn="just"/>
            <a:endParaRPr lang="en-IN" sz="1200" dirty="0"/>
          </a:p>
          <a:p>
            <a:pPr algn="just"/>
            <a:r>
              <a:rPr lang="en-IN" sz="1200" b="1" dirty="0"/>
              <a:t>Grounded Persona as Agent Controller</a:t>
            </a:r>
            <a:r>
              <a:rPr lang="en-IN" sz="1200" dirty="0"/>
              <a:t> The system prompt defines strict rules: use retrieved context only, never fabricate, and prioritise company-specific patterns. The LLM operates within defined boundaries with prompt engineering acting as agent control.</a:t>
            </a:r>
          </a:p>
          <a:p>
            <a:pPr algn="just"/>
            <a:endParaRPr lang="en-IN" sz="1200" dirty="0"/>
          </a:p>
          <a:p>
            <a:pPr algn="just"/>
            <a:r>
              <a:rPr lang="en-IN" sz="1200" b="1" dirty="0"/>
              <a:t>Multi-Turn Memory</a:t>
            </a:r>
            <a:r>
              <a:rPr lang="en-IN" sz="1200" dirty="0"/>
              <a:t> AI Coach Chat maintains the last 6 conversation turns, allowing the agent to build on prior context rather than starting fresh each time. Chat is intentionally excluded from caching because responses are stateful and context-dependent.</a:t>
            </a:r>
          </a:p>
          <a:p>
            <a:pPr algn="just"/>
            <a:endParaRPr lang="en-IN" sz="1200" dirty="0"/>
          </a:p>
          <a:p>
            <a:pPr algn="just"/>
            <a:r>
              <a:rPr lang="en-IN" sz="1200" b="1" dirty="0"/>
              <a:t>Graceful Fallback Strategy</a:t>
            </a:r>
            <a:r>
              <a:rPr lang="en-IN" sz="1200" dirty="0"/>
              <a:t> If Watson Discovery is unreachable, the agent automatically falls back to built-in domain knowledge so the pipeline never breaks.</a:t>
            </a:r>
          </a:p>
          <a:p>
            <a:pPr algn="just"/>
            <a:endParaRPr lang="en-IN" sz="1200" dirty="0"/>
          </a:p>
          <a:p>
            <a:pPr algn="just"/>
            <a:r>
              <a:rPr lang="en-IN" sz="1200" dirty="0"/>
              <a:t>Beyond a single prompt, the system functions as a reasoning pipeline that retrieves, observes, caches, continues, and grounds every response. The model does not pick its own tools, but it uses core building blocks including RAG for grounding, a pre-pipeline cache gate for efficiency, multi-step chaining where the output of one step feeds the next, and a controlled reasoning persona.</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17,554 tokens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F784CEF8-5FB8-B9F0-61CC-9091B7C258B5}"/>
              </a:ext>
            </a:extLst>
          </p:cNvPr>
          <p:cNvPicPr>
            <a:picLocks noChangeAspect="1"/>
          </p:cNvPicPr>
          <p:nvPr/>
        </p:nvPicPr>
        <p:blipFill>
          <a:blip r:embed="rId3"/>
          <a:srcRect t="10214" b="7391"/>
          <a:stretch>
            <a:fillRect/>
          </a:stretch>
        </p:blipFill>
        <p:spPr>
          <a:xfrm>
            <a:off x="231217" y="2512197"/>
            <a:ext cx="5934455" cy="2750467"/>
          </a:xfrm>
          <a:prstGeom prst="rect">
            <a:avLst/>
          </a:prstGeom>
        </p:spPr>
      </p:pic>
      <p:pic>
        <p:nvPicPr>
          <p:cNvPr id="6" name="Picture 5">
            <a:extLst>
              <a:ext uri="{FF2B5EF4-FFF2-40B4-BE49-F238E27FC236}">
                <a16:creationId xmlns:a16="http://schemas.microsoft.com/office/drawing/2014/main" id="{574B2125-97B9-A993-BA36-AE0F9D9B84B2}"/>
              </a:ext>
            </a:extLst>
          </p:cNvPr>
          <p:cNvPicPr>
            <a:picLocks noChangeAspect="1"/>
          </p:cNvPicPr>
          <p:nvPr/>
        </p:nvPicPr>
        <p:blipFill>
          <a:blip r:embed="rId4"/>
          <a:srcRect t="10496" b="4981"/>
          <a:stretch>
            <a:fillRect/>
          </a:stretch>
        </p:blipFill>
        <p:spPr>
          <a:xfrm>
            <a:off x="6165673" y="2499425"/>
            <a:ext cx="5811932" cy="2763239"/>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D41ABAB9-2286-A0E8-0C27-68926FC76BC7}"/>
              </a:ext>
            </a:extLst>
          </p:cNvPr>
          <p:cNvPicPr>
            <a:picLocks noChangeAspect="1"/>
          </p:cNvPicPr>
          <p:nvPr/>
        </p:nvPicPr>
        <p:blipFill>
          <a:blip r:embed="rId3"/>
          <a:srcRect t="5107" b="5161"/>
          <a:stretch>
            <a:fillRect/>
          </a:stretch>
        </p:blipFill>
        <p:spPr>
          <a:xfrm>
            <a:off x="583660" y="924128"/>
            <a:ext cx="9906000" cy="500001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8B180EE1-F59C-A299-B398-2CEAED20A1E0}"/>
              </a:ext>
            </a:extLst>
          </p:cNvPr>
          <p:cNvPicPr>
            <a:picLocks noChangeAspect="1"/>
          </p:cNvPicPr>
          <p:nvPr/>
        </p:nvPicPr>
        <p:blipFill>
          <a:blip r:embed="rId3"/>
          <a:srcRect t="5248" b="5248"/>
          <a:stretch>
            <a:fillRect/>
          </a:stretch>
        </p:blipFill>
        <p:spPr>
          <a:xfrm>
            <a:off x="591053" y="1044263"/>
            <a:ext cx="10265923" cy="5168457"/>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0E7927F1-7FE0-0D5D-B7CF-3E243B947890}"/>
              </a:ext>
            </a:extLst>
          </p:cNvPr>
          <p:cNvPicPr>
            <a:picLocks noChangeAspect="1"/>
          </p:cNvPicPr>
          <p:nvPr/>
        </p:nvPicPr>
        <p:blipFill>
          <a:blip r:embed="rId3"/>
          <a:srcRect t="5532" b="5532"/>
          <a:stretch>
            <a:fillRect/>
          </a:stretch>
        </p:blipFill>
        <p:spPr>
          <a:xfrm>
            <a:off x="639691" y="953311"/>
            <a:ext cx="10217285" cy="5111360"/>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15A66F9-FBA4-6BE2-5260-8BD9A7B8861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49FB13DE-02E8-B356-A938-1B4DBBC7EAC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3C7E9D1-EA16-FF19-5F5A-3924F1E8FB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CD03D603-4BE6-08B5-D933-B53B8B90499E}"/>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BD4FCD3-B27C-1EA7-16AE-B3AA129BD061}"/>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B80A8F99-3CBC-9002-21CE-EBACBA2D01E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8F707114-FE4C-139E-4E60-952199661EEC}"/>
              </a:ext>
            </a:extLst>
          </p:cNvPr>
          <p:cNvPicPr>
            <a:picLocks noChangeAspect="1"/>
          </p:cNvPicPr>
          <p:nvPr/>
        </p:nvPicPr>
        <p:blipFill>
          <a:blip r:embed="rId3"/>
          <a:srcRect t="5107" b="5390"/>
          <a:stretch>
            <a:fillRect/>
          </a:stretch>
        </p:blipFill>
        <p:spPr>
          <a:xfrm>
            <a:off x="409144" y="682693"/>
            <a:ext cx="7468554" cy="3760099"/>
          </a:xfrm>
          <a:prstGeom prst="rect">
            <a:avLst/>
          </a:prstGeom>
        </p:spPr>
      </p:pic>
      <p:pic>
        <p:nvPicPr>
          <p:cNvPr id="7" name="Picture 6">
            <a:extLst>
              <a:ext uri="{FF2B5EF4-FFF2-40B4-BE49-F238E27FC236}">
                <a16:creationId xmlns:a16="http://schemas.microsoft.com/office/drawing/2014/main" id="{8DAC7821-E882-3289-A209-56CF9652D1A3}"/>
              </a:ext>
            </a:extLst>
          </p:cNvPr>
          <p:cNvPicPr>
            <a:picLocks noChangeAspect="1"/>
          </p:cNvPicPr>
          <p:nvPr/>
        </p:nvPicPr>
        <p:blipFill>
          <a:blip r:embed="rId4"/>
          <a:srcRect t="4823" b="5673"/>
          <a:stretch>
            <a:fillRect/>
          </a:stretch>
        </p:blipFill>
        <p:spPr>
          <a:xfrm>
            <a:off x="4723444" y="2708794"/>
            <a:ext cx="7468555" cy="3760100"/>
          </a:xfrm>
          <a:prstGeom prst="rect">
            <a:avLst/>
          </a:prstGeom>
        </p:spPr>
      </p:pic>
    </p:spTree>
    <p:extLst>
      <p:ext uri="{BB962C8B-B14F-4D97-AF65-F5344CB8AC3E}">
        <p14:creationId xmlns:p14="http://schemas.microsoft.com/office/powerpoint/2010/main" val="3798297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0C76645-ECEE-D293-B926-22D6953A39D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26A9EBFF-1A1D-CF6B-32BD-94DF089E695D}"/>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D6C0085C-F978-9ECC-112B-929D32909ACA}"/>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32BACF7-50AC-604D-02EC-F223C4F7A59D}"/>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05FE5B2-8B1F-B3D6-57A1-9CD9A31A7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95EC4D06-837E-5790-DDF4-6B55608D7D68}"/>
              </a:ext>
            </a:extLst>
          </p:cNvPr>
          <p:cNvPicPr>
            <a:picLocks noChangeAspect="1"/>
          </p:cNvPicPr>
          <p:nvPr/>
        </p:nvPicPr>
        <p:blipFill>
          <a:blip r:embed="rId3"/>
          <a:srcRect t="4965" b="5248"/>
          <a:stretch>
            <a:fillRect/>
          </a:stretch>
        </p:blipFill>
        <p:spPr>
          <a:xfrm>
            <a:off x="4326281" y="711796"/>
            <a:ext cx="7795098" cy="3936939"/>
          </a:xfrm>
          <a:prstGeom prst="rect">
            <a:avLst/>
          </a:prstGeom>
        </p:spPr>
      </p:pic>
      <p:pic>
        <p:nvPicPr>
          <p:cNvPr id="7" name="Picture 6">
            <a:extLst>
              <a:ext uri="{FF2B5EF4-FFF2-40B4-BE49-F238E27FC236}">
                <a16:creationId xmlns:a16="http://schemas.microsoft.com/office/drawing/2014/main" id="{7D3BB8B5-553A-0398-35B0-0F21AC7C22E9}"/>
              </a:ext>
            </a:extLst>
          </p:cNvPr>
          <p:cNvPicPr>
            <a:picLocks noChangeAspect="1"/>
          </p:cNvPicPr>
          <p:nvPr/>
        </p:nvPicPr>
        <p:blipFill>
          <a:blip r:embed="rId4"/>
          <a:srcRect t="5390" b="5106"/>
          <a:stretch>
            <a:fillRect/>
          </a:stretch>
        </p:blipFill>
        <p:spPr>
          <a:xfrm>
            <a:off x="291830" y="2984941"/>
            <a:ext cx="7468553" cy="3760099"/>
          </a:xfrm>
          <a:prstGeom prst="rect">
            <a:avLst/>
          </a:prstGeom>
        </p:spPr>
      </p:pic>
    </p:spTree>
    <p:extLst>
      <p:ext uri="{BB962C8B-B14F-4D97-AF65-F5344CB8AC3E}">
        <p14:creationId xmlns:p14="http://schemas.microsoft.com/office/powerpoint/2010/main" val="3344920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032139" cy="5262979"/>
          </a:xfrm>
          <a:prstGeom prst="rect">
            <a:avLst/>
          </a:prstGeom>
          <a:noFill/>
        </p:spPr>
        <p:txBody>
          <a:bodyPr wrap="square" rtlCol="0">
            <a:spAutoFit/>
          </a:bodyPr>
          <a:lstStyle/>
          <a:p>
            <a:pPr algn="just"/>
            <a:r>
              <a:rPr lang="en-IN" dirty="0"/>
              <a:t>Not a question bank. Not a chatbot. A grounded, role-aware, multi-modal coaching system.</a:t>
            </a:r>
          </a:p>
          <a:p>
            <a:pPr algn="just"/>
            <a:endParaRPr lang="en-IN" dirty="0"/>
          </a:p>
          <a:p>
            <a:pPr lvl="0" algn="just"/>
            <a:r>
              <a:rPr lang="en-IN" b="1" dirty="0"/>
              <a:t>Question Type Separation</a:t>
            </a:r>
            <a:endParaRPr lang="en-IN" dirty="0"/>
          </a:p>
          <a:p>
            <a:pPr marL="285750" lvl="1" indent="-285750" algn="just">
              <a:buFont typeface="Arial" panose="020B0604020202020204" pitchFamily="34" charset="0"/>
              <a:buChar char="•"/>
            </a:pPr>
            <a:r>
              <a:rPr lang="en-IN" dirty="0"/>
              <a:t>Separates Technical, Behavioural, HR, and Evaluation rounds: each with its own prompt template, format, and model answer structure matching how that round is actually conducted in real interviews</a:t>
            </a:r>
          </a:p>
          <a:p>
            <a:pPr lvl="0" algn="just"/>
            <a:r>
              <a:rPr lang="en-IN" b="1" dirty="0"/>
              <a:t>Resume-Aware Personalisation</a:t>
            </a:r>
            <a:endParaRPr lang="en-IN" dirty="0"/>
          </a:p>
          <a:p>
            <a:pPr marL="285750" lvl="1" indent="-285750" algn="just">
              <a:buFont typeface="Arial" panose="020B0604020202020204" pitchFamily="34" charset="0"/>
              <a:buChar char="•"/>
            </a:pPr>
            <a:r>
              <a:rPr lang="en-IN" dirty="0"/>
              <a:t>Reads the candidate's resume and generates questions the interviewer will probe based on that specific background, not generic role questions</a:t>
            </a:r>
          </a:p>
          <a:p>
            <a:pPr lvl="1" algn="just"/>
            <a:r>
              <a:rPr lang="en-IN" dirty="0"/>
              <a:t>Identifies vulnerability areas the resume does not cover and builds a 30-day prep plan around those exact gaps</a:t>
            </a:r>
          </a:p>
          <a:p>
            <a:pPr lvl="0" algn="just"/>
            <a:r>
              <a:rPr lang="en-IN" b="1" dirty="0"/>
              <a:t>Two-Call Sequential Chain: Solving the Token Wall</a:t>
            </a:r>
            <a:endParaRPr lang="en-IN" dirty="0"/>
          </a:p>
          <a:p>
            <a:pPr marL="285750" lvl="1" indent="-285750" algn="just">
              <a:buFont typeface="Arial" panose="020B0604020202020204" pitchFamily="34" charset="0"/>
              <a:buChar char="•"/>
            </a:pPr>
            <a:r>
              <a:rPr lang="en-IN" dirty="0"/>
              <a:t>Output of Call 1 is fed as memory to Call 2, the candidate always receives all 5 complete questions, no truncation, no mid-sentence cutoffs</a:t>
            </a:r>
          </a:p>
          <a:p>
            <a:pPr lvl="1" algn="just"/>
            <a:r>
              <a:rPr lang="en-IN" dirty="0"/>
              <a:t>A practical, production-level solution to the 8,192-token context window constraint of small LLMs</a:t>
            </a:r>
          </a:p>
          <a:p>
            <a:pPr lvl="1" algn="just"/>
            <a:r>
              <a:rPr lang="en-IN" b="1" dirty="0"/>
              <a:t>In-Memory Response Cache: Zero-Dependency Token Efficiency</a:t>
            </a:r>
            <a:r>
              <a:rPr lang="en-IN" dirty="0"/>
              <a:t> </a:t>
            </a:r>
          </a:p>
          <a:p>
            <a:pPr marL="285750" lvl="1" indent="-285750" algn="just">
              <a:buFont typeface="Arial" panose="020B0604020202020204" pitchFamily="34" charset="0"/>
              <a:buChar char="•"/>
            </a:pPr>
            <a:r>
              <a:rPr lang="en-IN" dirty="0"/>
              <a:t>A Map-backed singleton cache with no Redis, external service, or API key intercepts repeated requests before the RAG pipeline runs. Cache keys are normalized by being lowercased, whitespace-collapsed, and having trailing punctuation stripped, ensuring minor re-submission differences still resolve to a hit. This saves up to 3,600 output tokens per cache hit on generate and resume routes, with stateless endpoints cached and stateful chat intentionally excluded.</a:t>
            </a:r>
          </a:p>
          <a:p>
            <a:pPr lvl="0" algn="just"/>
            <a:r>
              <a:rPr lang="en-IN" b="1" dirty="0"/>
              <a:t>Grounded by Design</a:t>
            </a:r>
            <a:endParaRPr lang="en-IN" dirty="0"/>
          </a:p>
          <a:p>
            <a:pPr marL="285750" lvl="1" indent="-285750" algn="just">
              <a:buFont typeface="Arial" panose="020B0604020202020204" pitchFamily="34" charset="0"/>
              <a:buChar char="•"/>
            </a:pPr>
            <a:r>
              <a:rPr lang="en-IN" dirty="0"/>
              <a:t>Every API call injects retrieved context before the LLM responds: outputs are verifiable and consistent, not probabilistic guesses</a:t>
            </a:r>
          </a:p>
          <a:p>
            <a:pPr lvl="0" algn="just"/>
            <a:r>
              <a:rPr lang="en-IN" b="1" dirty="0"/>
              <a:t>Full IBM Stack</a:t>
            </a:r>
            <a:endParaRPr lang="en-IN" dirty="0"/>
          </a:p>
          <a:p>
            <a:pPr marL="285750" lvl="1" indent="-285750" algn="just">
              <a:buFont typeface="Arial" panose="020B0604020202020204" pitchFamily="34" charset="0"/>
              <a:buChar char="•"/>
            </a:pPr>
            <a:r>
              <a:rPr lang="en-IN" dirty="0"/>
              <a:t>End-to-end use of IBM services including IAM authentication, watsonx.ai inference, and Watson Discovery vector search. The platform uses no third-party LLM wrappers or external vector databases, operating entirely within the IBM ecosystem.</a:t>
            </a:r>
          </a:p>
          <a:p>
            <a:pPr algn="just"/>
            <a:endParaRPr lang="en-IN" dirty="0"/>
          </a:p>
        </p:txBody>
      </p:sp>
    </p:spTree>
    <p:extLst>
      <p:ext uri="{BB962C8B-B14F-4D97-AF65-F5344CB8AC3E}">
        <p14:creationId xmlns:p14="http://schemas.microsoft.com/office/powerpoint/2010/main" val="2325282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https://github.com/Ashwath0102/Interview-Trainer-An-AI-Powered-Interview-Coaching-Platform</a:t>
            </a:r>
            <a:r>
              <a:rPr lang="en-US" sz="1850"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gn="just"/>
            <a:r>
              <a:rPr lang="en-IN" sz="1800" b="1" dirty="0"/>
              <a:t>1) Voice-Based Mock Interview Simulator</a:t>
            </a:r>
          </a:p>
          <a:p>
            <a:pPr lvl="0" algn="just"/>
            <a:r>
              <a:rPr lang="en-IN" sz="1800" dirty="0"/>
              <a:t>Integrate speech-to-text and text-to-speech so candidates can speak their answers aloud and receive real-time verbal feedback, simulating the actual pressure of a live interview rather than filling a text form.</a:t>
            </a:r>
          </a:p>
          <a:p>
            <a:pPr lvl="0" algn="just"/>
            <a:br>
              <a:rPr lang="en-IN" sz="1800" dirty="0"/>
            </a:br>
            <a:endParaRPr lang="en-IN" sz="1800" dirty="0"/>
          </a:p>
          <a:p>
            <a:pPr lvl="0" algn="just"/>
            <a:r>
              <a:rPr lang="en-IN" sz="1800" b="1" dirty="0"/>
              <a:t>2 Autonomous Multi-Round Agent with Self-Evaluation Loop</a:t>
            </a:r>
          </a:p>
          <a:p>
            <a:pPr lvl="0" algn="just"/>
            <a:r>
              <a:rPr lang="en-IN" sz="1800" dirty="0"/>
              <a:t>Evolve the current two-call chain into a fully autonomous agent that conducts an entire mock interview, asking a question, receiving the answer, scoring it, deciding whether to probe deeper or move on, and generating a final performance report, all without manual steps between rounds.</a:t>
            </a:r>
          </a:p>
          <a:p>
            <a:pPr lvl="0" algn="just"/>
            <a:br>
              <a:rPr lang="en-IN" sz="1800" dirty="0"/>
            </a:br>
            <a:endParaRPr lang="en-IN" sz="1800" dirty="0"/>
          </a:p>
          <a:p>
            <a:pPr lvl="0" algn="just"/>
            <a:r>
              <a:rPr lang="en-IN" sz="1800" b="1" dirty="0"/>
              <a:t>3) Company-Specific Live Knowledge Base</a:t>
            </a:r>
          </a:p>
          <a:p>
            <a:pPr lvl="0" algn="just"/>
            <a:r>
              <a:rPr lang="en-IN" sz="1800" dirty="0"/>
              <a:t>Replace static fallback knowledge with a continuously updated, company-curated vector index pulling from verified interview reports, job descriptions, and company value documents, ensuring questions and advice always align with the latest hiring patterns of organisations like Google, Deloitte, TCS, or IBM.</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6918EA6A-D54A-3B77-C89D-7474F926E441}"/>
              </a:ext>
            </a:extLst>
          </p:cNvPr>
          <p:cNvPicPr>
            <a:picLocks noChangeAspect="1"/>
          </p:cNvPicPr>
          <p:nvPr/>
        </p:nvPicPr>
        <p:blipFill>
          <a:blip r:embed="rId2"/>
          <a:stretch>
            <a:fillRect/>
          </a:stretch>
        </p:blipFill>
        <p:spPr>
          <a:xfrm>
            <a:off x="2442756" y="1485607"/>
            <a:ext cx="6555330" cy="491072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1F15A3E4-7C51-EF45-457B-E313CD5DDB39}"/>
              </a:ext>
            </a:extLst>
          </p:cNvPr>
          <p:cNvPicPr>
            <a:picLocks noChangeAspect="1"/>
          </p:cNvPicPr>
          <p:nvPr/>
        </p:nvPicPr>
        <p:blipFill>
          <a:blip r:embed="rId2"/>
          <a:stretch>
            <a:fillRect/>
          </a:stretch>
        </p:blipFill>
        <p:spPr>
          <a:xfrm>
            <a:off x="2057338" y="1311304"/>
            <a:ext cx="7754372" cy="5468873"/>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1613</Words>
  <Application>Microsoft Office PowerPoint</Application>
  <PresentationFormat>Widescreen</PresentationFormat>
  <Paragraphs>150</Paragraphs>
  <Slides>22</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Ashwath Baskar</cp:lastModifiedBy>
  <cp:revision>40</cp:revision>
  <dcterms:created xsi:type="dcterms:W3CDTF">2025-07-08T05:06:56Z</dcterms:created>
  <dcterms:modified xsi:type="dcterms:W3CDTF">2026-09-10T16:40:54Z</dcterms:modified>
</cp:coreProperties>
</file>